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67" r:id="rId2"/>
    <p:sldId id="257" r:id="rId3"/>
    <p:sldId id="266" r:id="rId4"/>
    <p:sldId id="268" r:id="rId5"/>
    <p:sldId id="288" r:id="rId6"/>
    <p:sldId id="292" r:id="rId7"/>
    <p:sldId id="270" r:id="rId8"/>
    <p:sldId id="271" r:id="rId9"/>
    <p:sldId id="294" r:id="rId10"/>
    <p:sldId id="293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005"/>
    <a:srgbClr val="FF7C80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17" autoAdjust="0"/>
    <p:restoredTop sz="80993" autoAdjust="0"/>
  </p:normalViewPr>
  <p:slideViewPr>
    <p:cSldViewPr snapToGrid="0">
      <p:cViewPr varScale="1">
        <p:scale>
          <a:sx n="102" d="100"/>
          <a:sy n="102" d="100"/>
        </p:scale>
        <p:origin x="246" y="114"/>
      </p:cViewPr>
      <p:guideLst/>
    </p:cSldViewPr>
  </p:slideViewPr>
  <p:outlineViewPr>
    <p:cViewPr>
      <p:scale>
        <a:sx n="33" d="100"/>
        <a:sy n="33" d="100"/>
      </p:scale>
      <p:origin x="0" y="-479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71F5F-BCB2-445A-8513-C2833F817113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1BE53-11E4-4C89-B365-249DC508E2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559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1BE53-11E4-4C89-B365-249DC508E29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287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1BE53-11E4-4C89-B365-249DC508E29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389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E8912-DA03-17AF-AFDE-92F2DF10C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71266C-EDB0-23BE-AD56-579921F9E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73D357-9459-4A15-19A8-5C17CC670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C1994E-3800-E308-120B-E18767BE7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1BE53-11E4-4C89-B365-249DC508E29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25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FE7B4-F0E6-2468-86FF-173E59A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EA489A-B764-44FC-944D-8A1BC7DDE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89831E-607F-86AE-5AD4-4D4567A82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79FB9D-425C-1E5F-DB43-6004D776C8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1BE53-11E4-4C89-B365-249DC508E29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116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C7D6C-A7D3-26C1-88D6-C4D5E7312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488EC2-DFC9-280C-5B99-39F98B3B2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434DD6-5A78-364E-141F-563783BB3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E4E79-338B-E259-7EE0-405FBC6EC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1BE53-11E4-4C89-B365-249DC508E29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4267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88830-66E5-04DA-2120-1ADD26454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1A6BB7-86B8-313B-45BC-49EDB2AE0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566325-D8DA-EAF6-22D6-C6F412845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BE1540-2897-1151-9E65-BA15649140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1BE53-11E4-4C89-B365-249DC508E29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9971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27FE4-10F7-373D-AFAC-55EA48D18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43E0CB-EC39-FDFB-FBA5-720B32412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CBAEA1-A4BF-3CA4-E6AB-AD9D768F3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C7D862-C0B2-8547-920C-208ADC260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1BE53-11E4-4C89-B365-249DC508E29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1833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5B92B-11D9-AB43-9961-83FAFCD2B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3EA0AD-4ED3-6062-77FC-48B264CBF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4B2902-9C72-D321-EF49-BF9BC749D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9A6D77-CB7E-F9F9-0610-1B56494E8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1BE53-11E4-4C89-B365-249DC508E29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762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034F1-2763-0EA7-1BDC-A9BC0BA9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6CBCAD-B5CB-950E-1535-ACEA38875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5A4B9F-CEDD-B617-9F5F-5086EFB91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D4DB94-A762-B726-A62E-4E0D161F0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1BE53-11E4-4C89-B365-249DC508E29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041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39077-9543-4E43-5BE1-C52E96F2D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E71E29-DDC6-1E5D-29F6-03D193045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F07881-4D40-7E15-A9C3-C94D37221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A06D80-C4A5-846C-64D8-F16321361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1BE53-11E4-4C89-B365-249DC508E29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358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EF7A4B-9E1E-407F-BAAB-6AC62923E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19EC46-D31C-6346-1380-1ED3A8AFE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A8E004-84EE-6C2E-2120-3806F81D9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D84B3-E16F-4BB4-9F25-8D40DF9886E2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A3C46B-8BCD-348D-CF8A-F43623454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86C393-719D-8021-671F-9016A7D0B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993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32BF50-0DC0-42AE-00A0-AE5E2797F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FF3182-2C42-B118-F3C1-56863BF3B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27327D-0EEA-2447-D466-10A048377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88FDB-538F-4A95-B16D-7D8DB8A4D130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D7C9F3-8DF6-AC02-AA5F-CE51DEDA4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4744EE-AD0C-D082-3EBB-B6462AAFB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7091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011D17-5E37-F47A-1F1C-D2A7465E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49C8B4-9F55-EB53-BB80-F6914C731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3B3955-AD6E-C0CE-2876-8D70D659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8C287-6F5F-48E7-9D45-F75B1CF734E1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221FA9-10A4-BC04-6433-6FFD0D46A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2E213-9D31-A2BF-A6FE-EFE1BBC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61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F1C1D-EBEA-C0CE-34FA-E10CD36E1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B26DB1-7177-E6FF-C7FF-DAAF9A8704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7AE7E1-D2D6-7A39-0927-3ABB9B5EE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907A46-7028-8227-6B38-166753929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6ADFB-25BF-451C-9EA9-092C63B9CA67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42EDB4-AAB4-D80E-7934-EA3AF3340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C5262A-5138-CC79-4802-E1EFBE06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835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85083-298B-1B5D-597C-153C8E45E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6CF987-0DDD-948F-EA88-90D1F457E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C70924-24F6-93D7-13A5-463C22595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E932C6B-4E2E-E70E-6158-2FF575368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040FA8-9441-DA77-093F-8E2C0D477B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7DB756B-1865-BC4A-04D5-3ACECA46F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8FB6-7649-42F7-85B4-70211BCF1E65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6E4A3F2-E201-C1E8-6483-E3A8F839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FAD34F6-A885-A23D-6870-121B4A85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587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F4B60-D81C-96A6-03B3-D82075A0F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BD545C-AF13-475F-6293-49C9E35C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62311-6B7B-41B6-AB67-9BFF4B726425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BE81EB-A119-464C-C2A3-003ACE6A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A6C528-9C2E-8322-A9A1-23DC5C21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160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7DDB184-B541-E0A0-D57A-2E4C72BE1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FEB16-93CE-4BE7-AABC-D96727DCC6B4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57A054-DB4F-BBD9-38A5-BD45C45E5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142917-DF47-D36D-560D-7C36F2113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22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46373-6FF8-9BBE-66F4-47D162082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F84DCC-5DD0-8BCE-7995-217B4A32B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9E36A2-2A44-8C66-9F24-6A99F70C7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2F7EDC-5542-9B49-A112-C7771D445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3C5B-2935-4432-8DC8-A3E494EB16A2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3E4EB7-98D3-7920-AF2E-86E89B153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275681-FADE-838C-1601-86188305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850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0DB53F-85BC-28DF-A519-C41EDC168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63D034-3BAD-21F6-4976-09DC58EC23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93D636-1FE0-B68B-65E2-A57368455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7F9FF3-1DC3-1D11-D560-80EA3CBB1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12EFB-164E-4B4C-B723-2721CF1D80AD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44E32A-9CDE-F626-2EB0-912502CB9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F8D8C9-5314-B310-5301-C399F6B63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294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6E3FF2-2050-6F67-E51F-3CB17C030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B379B9-10C9-A6FB-549B-AE6CAD615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881DDD-BDA0-4A31-0B11-A17601BA7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2184-725A-47C5-80E9-03547E7749A6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4D086D-DBEA-813C-9334-744CF2B2B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BEF5F-3913-A57D-41B3-E436480B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23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9971B5D-E051-9BB6-CC71-FFD5D5E4C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F59934-88AB-E2B3-6F99-5B02FE2D8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D98FD9-CF9B-9156-8F86-E119D4A4C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2516-E1AA-47F7-9255-3932714FB9CD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230DE5-4CA0-CC33-8C1B-7439B3587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600695-3F90-CD7A-05A2-63F66C7A9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820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106527-1742-4BEC-D750-D6526BB5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03C6C-4488-FE36-B80A-5FDD37F45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E35951-6F0A-1C21-9B3D-F8990AAC64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A499F-AD73-43BD-8B4C-34FA24CB3B43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500AF7-6E7C-2330-4334-553EE566B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2332BC-0654-AAA9-8EA4-5EFAFEE75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47B0F-0362-4F77-8631-DEEDD8AA39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95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62B67-3A7A-1A11-6D34-1BDB5F7DB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133354-F055-781C-AC58-57D500B9C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7400" y="1122363"/>
            <a:ext cx="10693400" cy="2387600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Transformer </a:t>
            </a:r>
            <a:r>
              <a:rPr lang="ko-KR" altLang="en-US" sz="4000" b="1" dirty="0"/>
              <a:t>기반 계층형 다중 에이전트</a:t>
            </a:r>
            <a:br>
              <a:rPr lang="en-US" altLang="ko-KR" sz="4000" b="1" dirty="0"/>
            </a:br>
            <a:r>
              <a:rPr lang="ko-KR" altLang="en-US" sz="4000" b="1" dirty="0"/>
              <a:t> 강화학습을 이용한 </a:t>
            </a:r>
            <a:br>
              <a:rPr lang="en-US" altLang="ko-KR" sz="4000" b="1" dirty="0"/>
            </a:br>
            <a:r>
              <a:rPr lang="en-US" altLang="ko-KR" sz="4000" b="1" dirty="0"/>
              <a:t>Energy Storage System </a:t>
            </a:r>
            <a:r>
              <a:rPr lang="ko-KR" altLang="en-US" sz="4000" b="1" dirty="0"/>
              <a:t>운영</a:t>
            </a:r>
            <a:endParaRPr lang="en-US" altLang="ko-KR" sz="40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D4130A8-44A5-365D-E940-24DAC295D8A8}"/>
              </a:ext>
            </a:extLst>
          </p:cNvPr>
          <p:cNvCxnSpPr>
            <a:cxnSpLocks/>
          </p:cNvCxnSpPr>
          <p:nvPr/>
        </p:nvCxnSpPr>
        <p:spPr>
          <a:xfrm>
            <a:off x="787400" y="3636666"/>
            <a:ext cx="10566400" cy="0"/>
          </a:xfrm>
          <a:prstGeom prst="line">
            <a:avLst/>
          </a:prstGeom>
          <a:ln w="28575">
            <a:solidFill>
              <a:srgbClr val="B600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부제목 2">
            <a:extLst>
              <a:ext uri="{FF2B5EF4-FFF2-40B4-BE49-F238E27FC236}">
                <a16:creationId xmlns:a16="http://schemas.microsoft.com/office/drawing/2014/main" id="{3A7B2BEC-F31B-85C1-EAE2-E84FFBB967F6}"/>
              </a:ext>
            </a:extLst>
          </p:cNvPr>
          <p:cNvSpPr txBox="1">
            <a:spLocks/>
          </p:cNvSpPr>
          <p:nvPr/>
        </p:nvSpPr>
        <p:spPr>
          <a:xfrm>
            <a:off x="8795208" y="3719340"/>
            <a:ext cx="2685592" cy="1088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400" dirty="0"/>
              <a:t>https://github.com/shushusu/rl</a:t>
            </a:r>
          </a:p>
          <a:p>
            <a:pPr algn="r"/>
            <a:r>
              <a:rPr lang="en-US" altLang="ko-KR" sz="1300" dirty="0"/>
              <a:t>120250390 </a:t>
            </a:r>
            <a:r>
              <a:rPr lang="ko-KR" altLang="en-US" sz="1300" dirty="0"/>
              <a:t>이승열</a:t>
            </a:r>
          </a:p>
        </p:txBody>
      </p:sp>
    </p:spTree>
    <p:extLst>
      <p:ext uri="{BB962C8B-B14F-4D97-AF65-F5344CB8AC3E}">
        <p14:creationId xmlns:p14="http://schemas.microsoft.com/office/powerpoint/2010/main" val="3718214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24E7D6-891D-D67C-0F91-C0BEA952D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B61AE9-2D8D-609F-25B4-2D6E20C07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ko-KR" altLang="en-US" sz="2000" dirty="0"/>
              <a:t>프로젝트 주제 및 목표</a:t>
            </a:r>
            <a:endParaRPr lang="en-US" altLang="ko-KR" sz="2000" dirty="0"/>
          </a:p>
          <a:p>
            <a:pPr marL="342900" indent="-342900">
              <a:buAutoNum type="arabicPeriod"/>
            </a:pPr>
            <a:r>
              <a:rPr lang="ko-KR" altLang="en-US" sz="2000" dirty="0"/>
              <a:t>환경 및 데이터셋 </a:t>
            </a:r>
            <a:endParaRPr lang="en-US" altLang="ko-KR" sz="2000" dirty="0"/>
          </a:p>
          <a:p>
            <a:pPr marL="342900" indent="-342900">
              <a:buAutoNum type="arabicPeriod"/>
            </a:pPr>
            <a:r>
              <a:rPr lang="en-US" altLang="ko-KR" sz="2000" dirty="0"/>
              <a:t>State, Action, Reward </a:t>
            </a:r>
            <a:r>
              <a:rPr lang="ko-KR" altLang="en-US" sz="2000" dirty="0"/>
              <a:t>설계</a:t>
            </a:r>
            <a:endParaRPr lang="en-US" altLang="ko-KR" sz="2000" dirty="0"/>
          </a:p>
          <a:p>
            <a:pPr marL="342900" indent="-342900">
              <a:buAutoNum type="arabicPeriod"/>
            </a:pPr>
            <a:r>
              <a:rPr lang="ko-KR" altLang="en-US" sz="2000" dirty="0"/>
              <a:t>강화학습 알고리즘 및 </a:t>
            </a:r>
            <a:r>
              <a:rPr lang="en-US" altLang="ko-KR" sz="2000" dirty="0"/>
              <a:t>hyperparameter </a:t>
            </a:r>
          </a:p>
          <a:p>
            <a:pPr marL="342900" indent="-342900">
              <a:buAutoNum type="arabicPeriod"/>
            </a:pPr>
            <a:r>
              <a:rPr lang="ko-KR" altLang="en-US" sz="2000" dirty="0"/>
              <a:t>실험 셋업 </a:t>
            </a:r>
            <a:endParaRPr lang="en-US" altLang="ko-KR" sz="2000" dirty="0"/>
          </a:p>
          <a:p>
            <a:pPr marL="342900" indent="-342900">
              <a:buAutoNum type="arabicPeriod"/>
            </a:pPr>
            <a:r>
              <a:rPr lang="ko-KR" altLang="en-US" sz="2000" dirty="0"/>
              <a:t>실험 결과 </a:t>
            </a:r>
            <a:endParaRPr lang="en-US" altLang="ko-KR" sz="2000" dirty="0"/>
          </a:p>
          <a:p>
            <a:pPr marL="342900" indent="-342900">
              <a:buAutoNum type="arabicPeriod"/>
            </a:pPr>
            <a:r>
              <a:rPr lang="ko-KR" altLang="en-US" sz="2000" dirty="0"/>
              <a:t>토의 및 결론 </a:t>
            </a:r>
            <a:endParaRPr lang="en-US" altLang="ko-KR" sz="2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9A8321-D21D-D60C-9F21-BD2D64EFA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6471EA8-E578-C1FB-AA28-42E10D089448}"/>
              </a:ext>
            </a:extLst>
          </p:cNvPr>
          <p:cNvCxnSpPr>
            <a:cxnSpLocks/>
          </p:cNvCxnSpPr>
          <p:nvPr/>
        </p:nvCxnSpPr>
        <p:spPr>
          <a:xfrm>
            <a:off x="802861" y="1507828"/>
            <a:ext cx="10566400" cy="0"/>
          </a:xfrm>
          <a:prstGeom prst="line">
            <a:avLst/>
          </a:prstGeom>
          <a:ln w="28575">
            <a:solidFill>
              <a:srgbClr val="B600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FC1E036-9A5A-AF66-221A-0C45078F16C3}"/>
              </a:ext>
            </a:extLst>
          </p:cNvPr>
          <p:cNvSpPr/>
          <p:nvPr/>
        </p:nvSpPr>
        <p:spPr>
          <a:xfrm>
            <a:off x="701261" y="752101"/>
            <a:ext cx="136939" cy="4379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1258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43CCF-5A1F-68DD-7281-B23AE6C33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DF0E6F-8341-85C8-5B28-D54AF27A6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프로젝트 주제 및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C8A59D-CF00-45B4-0C8A-2ACBD0CD2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/>
            <a:r>
              <a:rPr lang="ko-KR" altLang="en-US" sz="2000" dirty="0"/>
              <a:t>프로젝트 주제</a:t>
            </a:r>
            <a:endParaRPr lang="en-US" altLang="ko-KR" sz="2000" dirty="0"/>
          </a:p>
          <a:p>
            <a:pPr lvl="1" fontAlgn="base"/>
            <a:r>
              <a:rPr lang="ko-KR" altLang="en-US" sz="1400" dirty="0"/>
              <a:t>태양광 기반 마이크로그리드에서</a:t>
            </a:r>
            <a:br>
              <a:rPr lang="ko-KR" altLang="en-US" sz="1400" dirty="0"/>
            </a:br>
            <a:r>
              <a:rPr lang="ko-KR" altLang="en-US" sz="1400" dirty="0"/>
              <a:t>계층형 </a:t>
            </a:r>
            <a:r>
              <a:rPr lang="ko-KR" altLang="en-US" sz="1400" dirty="0" err="1"/>
              <a:t>멀티에이전트</a:t>
            </a:r>
            <a:r>
              <a:rPr lang="ko-KR" altLang="en-US" sz="1400" dirty="0"/>
              <a:t> 강화학습을 활용한 </a:t>
            </a:r>
            <a:r>
              <a:rPr lang="en-US" altLang="ko-KR" sz="1400" dirty="0"/>
              <a:t>Energy Storage System(ESS) </a:t>
            </a:r>
            <a:r>
              <a:rPr lang="ko-KR" altLang="en-US" sz="1400" dirty="0"/>
              <a:t>운영 최적화</a:t>
            </a:r>
            <a:endParaRPr lang="en-US" altLang="ko-KR" sz="1400" dirty="0"/>
          </a:p>
          <a:p>
            <a:pPr fontAlgn="base"/>
            <a:r>
              <a:rPr lang="ko-KR" altLang="en-US" sz="2000" dirty="0"/>
              <a:t>연구 배경</a:t>
            </a:r>
            <a:endParaRPr lang="en-US" altLang="ko-KR" sz="2000" dirty="0"/>
          </a:p>
          <a:p>
            <a:pPr lvl="1" fontAlgn="base"/>
            <a:r>
              <a:rPr lang="ko-KR" altLang="en-US" sz="1400" dirty="0"/>
              <a:t>태양광 변동성으로 인한 피크 부하</a:t>
            </a:r>
            <a:r>
              <a:rPr lang="en-US" altLang="ko-KR" sz="1400" dirty="0"/>
              <a:t> </a:t>
            </a:r>
            <a:r>
              <a:rPr lang="ko-KR" altLang="en-US" sz="1400" dirty="0"/>
              <a:t>및 </a:t>
            </a:r>
            <a:r>
              <a:rPr lang="ko-KR" altLang="en-US" sz="1400" dirty="0" err="1"/>
              <a:t>역조류</a:t>
            </a:r>
            <a:r>
              <a:rPr lang="ko-KR" altLang="en-US" sz="1400" dirty="0"/>
              <a:t> 문제 발생</a:t>
            </a:r>
            <a:endParaRPr lang="en-US" altLang="ko-KR" sz="1400" dirty="0"/>
          </a:p>
          <a:p>
            <a:pPr lvl="1" fontAlgn="base"/>
            <a:r>
              <a:rPr lang="ko-KR" altLang="en-US" sz="1400" dirty="0"/>
              <a:t>기존 룰</a:t>
            </a:r>
            <a:r>
              <a:rPr lang="en-US" altLang="ko-KR" sz="1400" dirty="0"/>
              <a:t> </a:t>
            </a:r>
            <a:r>
              <a:rPr lang="ko-KR" altLang="en-US" sz="1400" dirty="0"/>
              <a:t>기반 제어는 다양한 상황 대응에 한계</a:t>
            </a:r>
            <a:endParaRPr lang="en-US" altLang="ko-KR" sz="1400" dirty="0"/>
          </a:p>
          <a:p>
            <a:pPr fontAlgn="base"/>
            <a:r>
              <a:rPr lang="ko-KR" altLang="en-US" sz="2000" dirty="0"/>
              <a:t>연구 목표</a:t>
            </a:r>
            <a:endParaRPr lang="en-US" altLang="ko-KR" sz="2000" dirty="0"/>
          </a:p>
          <a:p>
            <a:pPr lvl="1" fontAlgn="base"/>
            <a:r>
              <a:rPr lang="ko-KR" altLang="en-US" sz="1400" dirty="0"/>
              <a:t>개별 가구 전기요금 절감</a:t>
            </a:r>
            <a:endParaRPr lang="en-US" altLang="ko-KR" sz="1400" dirty="0"/>
          </a:p>
          <a:p>
            <a:pPr lvl="1" fontAlgn="base"/>
            <a:r>
              <a:rPr lang="ko-KR" altLang="en-US" sz="1400" dirty="0"/>
              <a:t>전체 피크 부하 및 </a:t>
            </a:r>
            <a:r>
              <a:rPr lang="ko-KR" altLang="en-US" sz="1400" dirty="0" err="1"/>
              <a:t>역조류</a:t>
            </a:r>
            <a:r>
              <a:rPr lang="ko-KR" altLang="en-US" sz="1400" dirty="0"/>
              <a:t> 감소</a:t>
            </a:r>
            <a:endParaRPr lang="en-US" altLang="ko-KR" sz="1400" dirty="0"/>
          </a:p>
          <a:p>
            <a:pPr lvl="1" fontAlgn="base"/>
            <a:r>
              <a:rPr lang="en-US" altLang="ko-KR" sz="1400" dirty="0"/>
              <a:t>No-ESS / Rule / </a:t>
            </a:r>
            <a:r>
              <a:rPr lang="ko-KR" altLang="en-US" sz="1400" dirty="0"/>
              <a:t>제안 모델</a:t>
            </a:r>
            <a:r>
              <a:rPr lang="en-US" altLang="ko-KR" sz="1400" dirty="0"/>
              <a:t> </a:t>
            </a:r>
            <a:r>
              <a:rPr lang="ko-KR" altLang="en-US" sz="1400" dirty="0"/>
              <a:t>간 성능 비교 및 검증</a:t>
            </a:r>
            <a:endParaRPr lang="en-US" altLang="ko-KR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23E1FC-F8EA-30B0-D2FF-08BEB8699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3DF72CC-6C9F-A178-1E0C-6CE504334074}"/>
              </a:ext>
            </a:extLst>
          </p:cNvPr>
          <p:cNvCxnSpPr>
            <a:cxnSpLocks/>
          </p:cNvCxnSpPr>
          <p:nvPr/>
        </p:nvCxnSpPr>
        <p:spPr>
          <a:xfrm>
            <a:off x="802861" y="1507828"/>
            <a:ext cx="10566400" cy="0"/>
          </a:xfrm>
          <a:prstGeom prst="line">
            <a:avLst/>
          </a:prstGeom>
          <a:ln w="28575">
            <a:solidFill>
              <a:srgbClr val="B600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BAC144-7640-91E5-4BF6-045D46EA8334}"/>
              </a:ext>
            </a:extLst>
          </p:cNvPr>
          <p:cNvSpPr/>
          <p:nvPr/>
        </p:nvSpPr>
        <p:spPr>
          <a:xfrm>
            <a:off x="701261" y="752101"/>
            <a:ext cx="136939" cy="4379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944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A1CC3-396B-8C42-58B2-D90DDA95F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9C1E8-567C-537F-6D18-2EC183A2D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환경 및 데이터셋</a:t>
            </a:r>
            <a:r>
              <a:rPr lang="en-US" altLang="ko-KR" sz="3200" b="1" dirty="0"/>
              <a:t> </a:t>
            </a:r>
            <a:endParaRPr lang="ko-KR" altLang="en-US" sz="32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94A625-B5C9-8CA7-9738-D7A771DA8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/>
            <a:r>
              <a:rPr lang="ko-KR" altLang="en-US" sz="2000" dirty="0"/>
              <a:t>데이터셋 구성</a:t>
            </a:r>
            <a:endParaRPr lang="en-US" altLang="ko-KR" sz="2000" dirty="0"/>
          </a:p>
          <a:p>
            <a:pPr lvl="1" fontAlgn="base"/>
            <a:r>
              <a:rPr lang="en-US" altLang="ko-KR" sz="1400" dirty="0"/>
              <a:t>Kaggle Solar Power Generation Data (Plant 2) </a:t>
            </a:r>
            <a:r>
              <a:rPr lang="ko-KR" altLang="en-US" sz="1400" dirty="0"/>
              <a:t>사용</a:t>
            </a:r>
            <a:endParaRPr lang="en-US" altLang="ko-KR" sz="1400" dirty="0"/>
          </a:p>
          <a:p>
            <a:pPr fontAlgn="base"/>
            <a:r>
              <a:rPr lang="ko-KR" altLang="en-US" sz="2000" dirty="0" err="1"/>
              <a:t>전처리</a:t>
            </a:r>
            <a:r>
              <a:rPr lang="ko-KR" altLang="en-US" sz="2000" dirty="0"/>
              <a:t> 과정</a:t>
            </a:r>
            <a:endParaRPr lang="en-US" altLang="ko-KR" sz="2000" dirty="0"/>
          </a:p>
          <a:p>
            <a:pPr lvl="1" fontAlgn="base"/>
            <a:r>
              <a:rPr lang="en-US" altLang="ko-KR" sz="1400" dirty="0"/>
              <a:t>DATE_TIME</a:t>
            </a:r>
            <a:r>
              <a:rPr lang="ko-KR" altLang="en-US" sz="1400" dirty="0"/>
              <a:t> 기준 </a:t>
            </a:r>
            <a:r>
              <a:rPr lang="en-US" altLang="ko-KR" sz="1400" dirty="0"/>
              <a:t>1</a:t>
            </a:r>
            <a:r>
              <a:rPr lang="ko-KR" altLang="en-US" sz="1400" dirty="0"/>
              <a:t>시간 단위 </a:t>
            </a:r>
            <a:r>
              <a:rPr lang="ko-KR" altLang="en-US" sz="1400" dirty="0" err="1"/>
              <a:t>리샘플링</a:t>
            </a:r>
            <a:endParaRPr lang="en-US" altLang="ko-KR" sz="1400" dirty="0"/>
          </a:p>
          <a:p>
            <a:pPr lvl="1" fontAlgn="base"/>
            <a:r>
              <a:rPr lang="en-US" altLang="ko-KR" sz="1400" dirty="0"/>
              <a:t>22</a:t>
            </a:r>
            <a:r>
              <a:rPr lang="ko-KR" altLang="en-US" sz="1400" dirty="0"/>
              <a:t>개 가구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Source_Key</a:t>
            </a:r>
            <a:r>
              <a:rPr lang="en-US" altLang="ko-KR" sz="1400" dirty="0"/>
              <a:t>)</a:t>
            </a:r>
            <a:r>
              <a:rPr lang="ko-KR" altLang="en-US" sz="1400" dirty="0"/>
              <a:t>를 개별 에이전트로 분리 </a:t>
            </a:r>
            <a:endParaRPr lang="en-US" altLang="ko-KR" sz="1400" dirty="0"/>
          </a:p>
          <a:p>
            <a:pPr lvl="1" fontAlgn="base"/>
            <a:r>
              <a:rPr lang="ko-KR" altLang="en-US" sz="1400" dirty="0"/>
              <a:t>발전량</a:t>
            </a:r>
            <a:r>
              <a:rPr lang="en-US" altLang="ko-KR" sz="1400" dirty="0"/>
              <a:t>·</a:t>
            </a:r>
            <a:r>
              <a:rPr lang="ko-KR" altLang="en-US" sz="1400" dirty="0"/>
              <a:t>부하</a:t>
            </a:r>
            <a:r>
              <a:rPr lang="en-US" altLang="ko-KR" sz="1400" dirty="0"/>
              <a:t>·</a:t>
            </a:r>
            <a:r>
              <a:rPr lang="ko-KR" altLang="en-US" sz="1400" dirty="0"/>
              <a:t>기상 데이터를 공통 인덱스 기준 정렬</a:t>
            </a:r>
            <a:endParaRPr lang="en-US" altLang="ko-KR" sz="1400" dirty="0"/>
          </a:p>
          <a:p>
            <a:pPr lvl="1" fontAlgn="base"/>
            <a:r>
              <a:rPr lang="ko-KR" altLang="en-US" sz="1400" dirty="0" err="1"/>
              <a:t>결측값은</a:t>
            </a:r>
            <a:r>
              <a:rPr lang="ko-KR" altLang="en-US" sz="1400" dirty="0"/>
              <a:t> </a:t>
            </a:r>
            <a:r>
              <a:rPr lang="en-US" altLang="ko-KR" sz="1400" dirty="0"/>
              <a:t>interpolate</a:t>
            </a:r>
            <a:r>
              <a:rPr lang="ko-KR" altLang="en-US" sz="1400" dirty="0"/>
              <a:t>으로 처리</a:t>
            </a:r>
            <a:endParaRPr lang="en-US" altLang="ko-KR" sz="1400" dirty="0"/>
          </a:p>
          <a:p>
            <a:pPr fontAlgn="base"/>
            <a:r>
              <a:rPr lang="ko-KR" altLang="en-US" sz="2000" dirty="0"/>
              <a:t>추가 </a:t>
            </a:r>
            <a:r>
              <a:rPr lang="en-US" altLang="ko-KR" sz="2000" dirty="0"/>
              <a:t>Feature </a:t>
            </a:r>
            <a:r>
              <a:rPr lang="ko-KR" altLang="en-US" sz="2000" dirty="0"/>
              <a:t>생성</a:t>
            </a:r>
            <a:endParaRPr lang="en-US" altLang="ko-KR" sz="2000" dirty="0"/>
          </a:p>
          <a:p>
            <a:pPr lvl="1" fontAlgn="base"/>
            <a:r>
              <a:rPr lang="ko-KR" altLang="en-US" sz="1400" dirty="0"/>
              <a:t>시간 인코딩</a:t>
            </a:r>
            <a:r>
              <a:rPr lang="en-US" altLang="ko-KR" sz="1400" dirty="0"/>
              <a:t>: sin(2πt/24), cos(2πt/24)</a:t>
            </a:r>
          </a:p>
          <a:p>
            <a:pPr lvl="1" fontAlgn="base"/>
            <a:r>
              <a:rPr lang="en-US" altLang="ko-KR" sz="1400" dirty="0"/>
              <a:t>TOU(Time-of-Use) </a:t>
            </a:r>
            <a:r>
              <a:rPr lang="ko-KR" altLang="en-US" sz="1400" dirty="0"/>
              <a:t>전기요금 생성</a:t>
            </a:r>
            <a:endParaRPr lang="en-US" altLang="ko-KR" sz="1400" dirty="0"/>
          </a:p>
          <a:p>
            <a:pPr lvl="1" fontAlgn="base"/>
            <a:r>
              <a:rPr lang="ko-KR" altLang="en-US" sz="1400" dirty="0"/>
              <a:t>미래 정보</a:t>
            </a:r>
            <a:r>
              <a:rPr lang="en-US" altLang="ko-KR" sz="1400" dirty="0"/>
              <a:t>: </a:t>
            </a:r>
            <a:r>
              <a:rPr lang="ko-KR" altLang="en-US" sz="1400" dirty="0"/>
              <a:t>다음 시점 가격</a:t>
            </a:r>
            <a:r>
              <a:rPr lang="en-US" altLang="ko-KR" sz="1400" dirty="0"/>
              <a:t>·</a:t>
            </a:r>
            <a:r>
              <a:rPr lang="ko-KR" altLang="en-US" sz="1400" dirty="0"/>
              <a:t>일사량</a:t>
            </a:r>
            <a:r>
              <a:rPr lang="en-US" altLang="ko-KR" sz="1400" dirty="0"/>
              <a:t>(Price(t+1), </a:t>
            </a:r>
            <a:r>
              <a:rPr lang="en-US" altLang="ko-KR" sz="1400" dirty="0" err="1"/>
              <a:t>Irrad</a:t>
            </a:r>
            <a:r>
              <a:rPr lang="en-US" altLang="ko-KR" sz="1400" dirty="0"/>
              <a:t>(t+1))</a:t>
            </a:r>
          </a:p>
          <a:p>
            <a:pPr fontAlgn="base"/>
            <a:r>
              <a:rPr lang="ko-KR" altLang="en-US" sz="2000" dirty="0"/>
              <a:t>최종 입력 </a:t>
            </a:r>
            <a:r>
              <a:rPr lang="ko-KR" altLang="en-US" sz="2000" dirty="0" err="1"/>
              <a:t>텐서</a:t>
            </a:r>
            <a:r>
              <a:rPr lang="ko-KR" altLang="en-US" sz="2000" dirty="0"/>
              <a:t> 구조</a:t>
            </a:r>
            <a:endParaRPr lang="en-US" altLang="ko-KR" sz="2000" dirty="0"/>
          </a:p>
          <a:p>
            <a:pPr lvl="1" fontAlgn="base"/>
            <a:r>
              <a:rPr lang="en-US" altLang="ko-KR" sz="1400" dirty="0"/>
              <a:t>Shape: (Time, Agents, Features=7)</a:t>
            </a:r>
          </a:p>
          <a:p>
            <a:pPr lvl="1" fontAlgn="base"/>
            <a:r>
              <a:rPr lang="en-US" altLang="ko-KR" sz="1400" dirty="0"/>
              <a:t>Feature </a:t>
            </a:r>
            <a:r>
              <a:rPr lang="ko-KR" altLang="en-US" sz="1400" dirty="0"/>
              <a:t>구성 </a:t>
            </a:r>
            <a:r>
              <a:rPr lang="en-US" altLang="ko-KR" sz="1400" dirty="0"/>
              <a:t>: [Gen, Load, Price, </a:t>
            </a:r>
            <a:r>
              <a:rPr lang="en-US" altLang="ko-KR" sz="1400" dirty="0" err="1"/>
              <a:t>Fut_Price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Fut_Irrad</a:t>
            </a:r>
            <a:r>
              <a:rPr lang="en-US" altLang="ko-KR" sz="1400" dirty="0"/>
              <a:t>, Sin, Cos]</a:t>
            </a:r>
          </a:p>
          <a:p>
            <a:pPr fontAlgn="base"/>
            <a:endParaRPr lang="en-US" altLang="ko-KR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85FCE6-D21F-A5F2-FCF9-AD70FF910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2D00475-92A8-5794-2864-20BAAFDFB870}"/>
              </a:ext>
            </a:extLst>
          </p:cNvPr>
          <p:cNvCxnSpPr>
            <a:cxnSpLocks/>
          </p:cNvCxnSpPr>
          <p:nvPr/>
        </p:nvCxnSpPr>
        <p:spPr>
          <a:xfrm>
            <a:off x="802861" y="1507828"/>
            <a:ext cx="10566400" cy="0"/>
          </a:xfrm>
          <a:prstGeom prst="line">
            <a:avLst/>
          </a:prstGeom>
          <a:ln w="28575">
            <a:solidFill>
              <a:srgbClr val="B600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9AE257-1A64-5353-9BCF-4EDFB9E4083B}"/>
              </a:ext>
            </a:extLst>
          </p:cNvPr>
          <p:cNvSpPr/>
          <p:nvPr/>
        </p:nvSpPr>
        <p:spPr>
          <a:xfrm>
            <a:off x="701261" y="752101"/>
            <a:ext cx="136939" cy="4379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9943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57666-C0EF-EA9D-F221-7FC52B7E1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D2424-5DBD-ED8B-E443-6B00DBB77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b="1" dirty="0"/>
              <a:t>State, Action, Reward </a:t>
            </a:r>
            <a:r>
              <a:rPr lang="ko-KR" altLang="en-US" sz="3200" b="1" dirty="0"/>
              <a:t>설계</a:t>
            </a:r>
            <a:r>
              <a:rPr lang="en-US" altLang="ko-KR" sz="3200" b="1" dirty="0"/>
              <a:t> </a:t>
            </a:r>
            <a:endParaRPr lang="ko-KR" alt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EBE65C4-604B-FECF-DA61-6134274FA7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0" fontAlgn="base"/>
                <a:r>
                  <a:rPr lang="en-US" altLang="ko-KR" sz="2000" dirty="0"/>
                  <a:t>State</a:t>
                </a:r>
              </a:p>
              <a:p>
                <a:pPr lvl="1" fontAlgn="base"/>
                <a:r>
                  <a:rPr lang="en-US" altLang="ko-KR" sz="1500" dirty="0"/>
                  <a:t>Manager state</a:t>
                </a:r>
              </a:p>
              <a:p>
                <a:pPr lvl="2" fontAlgn="base"/>
                <a:r>
                  <a:rPr lang="ko-KR" altLang="en-US" sz="1300" dirty="0"/>
                  <a:t>마을 평균 발전</a:t>
                </a:r>
                <a:r>
                  <a:rPr lang="en-US" altLang="ko-KR" sz="1300" dirty="0"/>
                  <a:t>·</a:t>
                </a:r>
                <a:r>
                  <a:rPr lang="ko-KR" altLang="en-US" sz="1300" dirty="0"/>
                  <a:t>부하</a:t>
                </a:r>
                <a:r>
                  <a:rPr lang="en-US" altLang="ko-KR" sz="1300" dirty="0"/>
                  <a:t>·</a:t>
                </a:r>
                <a:r>
                  <a:rPr lang="ko-KR" altLang="en-US" sz="1300" dirty="0"/>
                  <a:t>가격</a:t>
                </a:r>
                <a:r>
                  <a:rPr lang="en-US" altLang="ko-KR" sz="1300" dirty="0"/>
                  <a:t>, </a:t>
                </a:r>
                <a:r>
                  <a:rPr lang="ko-KR" altLang="en-US" sz="1300" dirty="0"/>
                  <a:t>미래 가격</a:t>
                </a:r>
                <a:r>
                  <a:rPr lang="en-US" altLang="ko-KR" sz="1300" dirty="0"/>
                  <a:t>/</a:t>
                </a:r>
                <a:r>
                  <a:rPr lang="ko-KR" altLang="en-US" sz="1300" dirty="0"/>
                  <a:t>일사량</a:t>
                </a:r>
                <a:r>
                  <a:rPr lang="en-US" altLang="ko-KR" sz="1300" dirty="0"/>
                  <a:t>, </a:t>
                </a:r>
                <a:r>
                  <a:rPr lang="ko-KR" altLang="en-US" sz="1300" dirty="0"/>
                  <a:t>시간 인코딩</a:t>
                </a:r>
                <a:r>
                  <a:rPr lang="en-US" altLang="ko-KR" sz="1300" dirty="0"/>
                  <a:t>(sin, cos</a:t>
                </a:r>
                <a:r>
                  <a:rPr lang="en-US" altLang="ko-KR" sz="800" dirty="0"/>
                  <a:t>)</a:t>
                </a:r>
              </a:p>
              <a:p>
                <a:pPr lvl="1" fontAlgn="base"/>
                <a:r>
                  <a:rPr lang="en-US" altLang="ko-KR" sz="1500" dirty="0"/>
                  <a:t>Worker state</a:t>
                </a:r>
              </a:p>
              <a:p>
                <a:pPr lvl="2" fontAlgn="base"/>
                <a:r>
                  <a:rPr lang="ko-KR" altLang="en-US" sz="1200" dirty="0"/>
                  <a:t>개별 </a:t>
                </a:r>
                <a:r>
                  <a:rPr lang="en-US" altLang="ko-KR" sz="1200" dirty="0"/>
                  <a:t>SoC, </a:t>
                </a:r>
                <a:r>
                  <a:rPr lang="ko-KR" altLang="en-US" sz="1200" dirty="0"/>
                  <a:t>발전</a:t>
                </a:r>
                <a:r>
                  <a:rPr lang="en-US" altLang="ko-KR" sz="1200" dirty="0"/>
                  <a:t>·</a:t>
                </a:r>
                <a:r>
                  <a:rPr lang="ko-KR" altLang="en-US" sz="1200" dirty="0"/>
                  <a:t>부하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공통 정보</a:t>
                </a:r>
                <a:r>
                  <a:rPr lang="en-US" altLang="ko-KR" sz="1200" dirty="0"/>
                  <a:t>, Manager </a:t>
                </a:r>
                <a:r>
                  <a:rPr lang="ko-KR" altLang="en-US" sz="1200" dirty="0"/>
                  <a:t>신호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ko-KR" sz="1200" dirty="0"/>
              </a:p>
              <a:p>
                <a:pPr lvl="0" fontAlgn="base"/>
                <a:r>
                  <a:rPr lang="en-US" altLang="ko-KR" sz="2000" dirty="0"/>
                  <a:t>Action</a:t>
                </a:r>
              </a:p>
              <a:p>
                <a:pPr lvl="1" fontAlgn="base"/>
                <a:r>
                  <a:rPr lang="en-US" altLang="ko-KR" sz="1500" dirty="0"/>
                  <a:t>Manager action</a:t>
                </a:r>
              </a:p>
              <a:p>
                <a:pPr lvl="2" fontAlgn="base"/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𝐿𝑡</m:t>
                    </m:r>
                  </m:oMath>
                </a14:m>
                <a:r>
                  <a:rPr lang="en-US" altLang="ko-KR" sz="1300" dirty="0"/>
                  <a:t> ∈ [0,1]: </a:t>
                </a:r>
                <a:r>
                  <a:rPr lang="ko-KR" altLang="en-US" sz="1300" dirty="0"/>
                  <a:t>각 가구의 방전 상한 신호</a:t>
                </a:r>
                <a:endParaRPr lang="en-US" altLang="ko-KR" sz="1300" dirty="0"/>
              </a:p>
              <a:p>
                <a:pPr lvl="1"/>
                <a:r>
                  <a:rPr lang="en-US" altLang="ko-KR" sz="1500" dirty="0"/>
                  <a:t>Worker action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3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ko-KR" altLang="en-US" sz="13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1300" b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3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3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3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3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3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sz="13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300" dirty="0"/>
                  <a:t>: </a:t>
                </a:r>
                <a:r>
                  <a:rPr lang="ko-KR" altLang="en-US" sz="1300" dirty="0"/>
                  <a:t>가구별 </a:t>
                </a:r>
                <a:r>
                  <a:rPr lang="en-US" altLang="ko-KR" sz="1300" dirty="0"/>
                  <a:t>ESS </a:t>
                </a:r>
                <a:r>
                  <a:rPr lang="ko-KR" altLang="en-US" sz="1300" dirty="0"/>
                  <a:t>충</a:t>
                </a:r>
                <a:r>
                  <a:rPr lang="en-US" altLang="ko-KR" sz="1300" dirty="0"/>
                  <a:t>·</a:t>
                </a:r>
                <a:r>
                  <a:rPr lang="ko-KR" altLang="en-US" sz="1300" dirty="0"/>
                  <a:t>방전 제어</a:t>
                </a:r>
                <a:endParaRPr lang="en-US" altLang="ko-KR" sz="1300" dirty="0"/>
              </a:p>
              <a:p>
                <a:pPr lvl="0" fontAlgn="base"/>
                <a:r>
                  <a:rPr lang="en-US" altLang="ko-KR" sz="2000" dirty="0"/>
                  <a:t>Reward</a:t>
                </a:r>
              </a:p>
              <a:p>
                <a:pPr lvl="1" fontAlgn="base"/>
                <a:r>
                  <a:rPr lang="ko-KR" altLang="en-US" sz="1500" dirty="0"/>
                  <a:t>비용 최소화</a:t>
                </a:r>
                <a:r>
                  <a:rPr lang="en-US" altLang="ko-KR" sz="1500" dirty="0"/>
                  <a:t>:</a:t>
                </a:r>
                <a:r>
                  <a:rPr lang="ko-KR" altLang="en-US" sz="1500" dirty="0"/>
                  <a:t> </a:t>
                </a:r>
                <a14:m>
                  <m:oMath xmlns:m="http://schemas.openxmlformats.org/officeDocument/2006/math">
                    <m:r>
                      <a:rPr lang="ko-KR" altLang="en-US" sz="1500" b="0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altLang="ko-KR" sz="15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ar-AE" altLang="ko-KR" sz="1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ko-KR" sz="1500" i="1"/>
                              <m:t>Cost</m:t>
                            </m:r>
                          </m:e>
                          <m:sub>
                            <m:r>
                              <a:rPr lang="ko-KR" altLang="ar-AE" sz="15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sz="1500" dirty="0"/>
              </a:p>
              <a:p>
                <a:pPr lvl="1" fontAlgn="base"/>
                <a:r>
                  <a:rPr lang="ko-KR" altLang="en-US" sz="1500" dirty="0"/>
                  <a:t>피크 억제</a:t>
                </a:r>
                <a:r>
                  <a:rPr lang="en-US" altLang="ko-KR" sz="1500" dirty="0"/>
                  <a:t>:</a:t>
                </a:r>
                <a:r>
                  <a:rPr lang="ko-KR" altLang="en-US" sz="1500" dirty="0"/>
                  <a:t> 피크 초과에 대해 선형 페널티 부과</a:t>
                </a:r>
                <a:endParaRPr lang="en-US" altLang="ko-KR" sz="1500" dirty="0"/>
              </a:p>
              <a:p>
                <a:pPr lvl="1"/>
                <a:r>
                  <a:rPr lang="en-US" altLang="ko-KR" sz="1500" dirty="0"/>
                  <a:t>Manager / Worker</a:t>
                </a:r>
                <a:endParaRPr lang="ko-KR" altLang="en-US" sz="1500" dirty="0"/>
              </a:p>
              <a:p>
                <a:pPr lvl="2"/>
                <a:r>
                  <a:rPr lang="en-US" altLang="ko-KR" sz="1300" dirty="0"/>
                  <a:t>Manager: </a:t>
                </a:r>
                <a:r>
                  <a:rPr lang="ko-KR" altLang="en-US" sz="1300" dirty="0"/>
                  <a:t>비용 </a:t>
                </a:r>
                <a:r>
                  <a:rPr lang="en-US" altLang="ko-KR" sz="1300" dirty="0"/>
                  <a:t>+ </a:t>
                </a:r>
                <a:r>
                  <a:rPr lang="ko-KR" altLang="en-US" sz="1300" dirty="0"/>
                  <a:t>피크 글로벌 페널티</a:t>
                </a:r>
              </a:p>
              <a:p>
                <a:pPr lvl="2"/>
                <a:r>
                  <a:rPr lang="en-US" altLang="ko-KR" sz="1300" dirty="0"/>
                  <a:t>Worker: </a:t>
                </a:r>
                <a:r>
                  <a:rPr lang="ko-KR" altLang="en-US" sz="1300" dirty="0"/>
                  <a:t>개별 비용 </a:t>
                </a:r>
                <a:r>
                  <a:rPr lang="en-US" altLang="ko-KR" sz="1300" dirty="0"/>
                  <a:t>+ </a:t>
                </a:r>
                <a:r>
                  <a:rPr lang="ko-KR" altLang="en-US" sz="1300" dirty="0"/>
                  <a:t>완화된 피크 페널티</a:t>
                </a:r>
              </a:p>
              <a:p>
                <a:pPr lvl="1" fontAlgn="base"/>
                <a:endParaRPr lang="en-US" altLang="ko-KR" sz="1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EBE65C4-604B-FECF-DA61-6134274FA7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 t="-21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DD7D21-ED57-8862-6C9A-A07F17632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391AEAF-7321-2C1C-BDA8-A1DF0360E410}"/>
              </a:ext>
            </a:extLst>
          </p:cNvPr>
          <p:cNvCxnSpPr>
            <a:cxnSpLocks/>
          </p:cNvCxnSpPr>
          <p:nvPr/>
        </p:nvCxnSpPr>
        <p:spPr>
          <a:xfrm>
            <a:off x="802861" y="1507828"/>
            <a:ext cx="10566400" cy="0"/>
          </a:xfrm>
          <a:prstGeom prst="line">
            <a:avLst/>
          </a:prstGeom>
          <a:ln w="28575">
            <a:solidFill>
              <a:srgbClr val="B600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CAD1565-D7C5-4A1F-EED5-CED5DE9541AB}"/>
              </a:ext>
            </a:extLst>
          </p:cNvPr>
          <p:cNvSpPr/>
          <p:nvPr/>
        </p:nvSpPr>
        <p:spPr>
          <a:xfrm>
            <a:off x="701261" y="752101"/>
            <a:ext cx="136939" cy="4379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8506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F76EB-8727-2688-9177-317ADDDE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06818-7372-B27C-34A1-2D725FAED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강화학습 알고리즘 및 </a:t>
            </a:r>
            <a:r>
              <a:rPr lang="en-US" altLang="ko-KR" sz="3200" b="1" dirty="0"/>
              <a:t>hyperparameter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2C7EDF5-FC43-3603-C073-58A1BADBD6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lvl="0" fontAlgn="base"/>
                <a:r>
                  <a:rPr lang="ko-KR" altLang="en-US" sz="2200" dirty="0"/>
                  <a:t>사용 알고리즘</a:t>
                </a:r>
                <a:r>
                  <a:rPr lang="en-US" altLang="ko-KR" sz="2200" dirty="0"/>
                  <a:t>: Hierarchical PPO</a:t>
                </a:r>
              </a:p>
              <a:p>
                <a:pPr lvl="1" fontAlgn="base"/>
                <a:r>
                  <a:rPr lang="en-US" altLang="ko-KR" sz="1500" dirty="0"/>
                  <a:t>Manager : </a:t>
                </a:r>
                <a:r>
                  <a:rPr lang="ko-KR" altLang="en-US" sz="1500" dirty="0"/>
                  <a:t>피크 제어 신호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5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ko-KR" altLang="en-US" sz="15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500" dirty="0"/>
                  <a:t>생성</a:t>
                </a:r>
                <a:endParaRPr lang="en-US" altLang="ko-KR" sz="1500" dirty="0"/>
              </a:p>
              <a:p>
                <a:pPr lvl="1" fontAlgn="base"/>
                <a:r>
                  <a:rPr lang="en-US" altLang="ko-KR" sz="1500" dirty="0"/>
                  <a:t>Worker : </a:t>
                </a:r>
                <a:r>
                  <a:rPr lang="ko-KR" altLang="en-US" sz="1500" dirty="0"/>
                  <a:t>가구별 </a:t>
                </a:r>
                <a:r>
                  <a:rPr lang="en-US" altLang="ko-KR" sz="1500" dirty="0"/>
                  <a:t>ESS </a:t>
                </a:r>
                <a:r>
                  <a:rPr lang="ko-KR" altLang="en-US" sz="1500" dirty="0"/>
                  <a:t>충</a:t>
                </a:r>
                <a:r>
                  <a:rPr lang="en-US" altLang="ko-KR" sz="1500" dirty="0"/>
                  <a:t>·</a:t>
                </a:r>
                <a:r>
                  <a:rPr lang="ko-KR" altLang="en-US" sz="1500" dirty="0"/>
                  <a:t>방전 제어</a:t>
                </a:r>
                <a:endParaRPr lang="en-US" altLang="ko-KR" sz="1500" dirty="0"/>
              </a:p>
              <a:p>
                <a:pPr lvl="1" fontAlgn="base"/>
                <a:r>
                  <a:rPr lang="en-US" altLang="ko-KR" sz="1500" dirty="0"/>
                  <a:t>Transformer </a:t>
                </a:r>
                <a:r>
                  <a:rPr lang="ko-KR" altLang="en-US" sz="1500" dirty="0"/>
                  <a:t>기반 정책 네트워크 사용</a:t>
                </a:r>
                <a:endParaRPr lang="en-US" altLang="ko-KR" sz="1500" dirty="0"/>
              </a:p>
              <a:p>
                <a:pPr fontAlgn="base"/>
                <a:r>
                  <a:rPr lang="en-US" altLang="ko-KR" sz="2200" dirty="0"/>
                  <a:t>Neural Network </a:t>
                </a:r>
                <a:r>
                  <a:rPr lang="ko-KR" altLang="en-US" sz="2200" dirty="0"/>
                  <a:t>구조</a:t>
                </a:r>
                <a:endParaRPr lang="en-US" altLang="ko-KR" sz="2200" dirty="0"/>
              </a:p>
              <a:p>
                <a:pPr lvl="1" fontAlgn="base"/>
                <a:r>
                  <a:rPr lang="fr-FR" altLang="ko-KR" sz="1500" dirty="0"/>
                  <a:t>Encoder : Transformer</a:t>
                </a:r>
              </a:p>
              <a:p>
                <a:pPr lvl="1" fontAlgn="base"/>
                <a:r>
                  <a:rPr lang="en-US" altLang="ko-KR" sz="1500" dirty="0"/>
                  <a:t>Actor / Critic: MLP</a:t>
                </a:r>
              </a:p>
              <a:p>
                <a:pPr lvl="1" fontAlgn="base"/>
                <a:r>
                  <a:rPr lang="ko-KR" altLang="en-US" sz="1500" dirty="0"/>
                  <a:t>입력 길이 </a:t>
                </a:r>
                <a:r>
                  <a:rPr lang="en-US" altLang="ko-KR" sz="1500" dirty="0"/>
                  <a:t>: Sequence length 24</a:t>
                </a:r>
              </a:p>
              <a:p>
                <a:pPr fontAlgn="base"/>
                <a:r>
                  <a:rPr lang="ko-KR" altLang="en-US" sz="2200" dirty="0"/>
                  <a:t>학습 </a:t>
                </a:r>
                <a:r>
                  <a:rPr lang="en-US" altLang="ko-KR" sz="2200" dirty="0"/>
                  <a:t>Hyperparameters</a:t>
                </a:r>
                <a:r>
                  <a:rPr lang="en-US" altLang="ko-KR" sz="1400" dirty="0"/>
                  <a:t>	</a:t>
                </a:r>
              </a:p>
              <a:p>
                <a:pPr lvl="1" fontAlgn="base"/>
                <a:r>
                  <a:rPr lang="en-US" altLang="ko-KR" sz="1500" dirty="0"/>
                  <a:t>Learning rate : </a:t>
                </a:r>
                <a14:m>
                  <m:oMath xmlns:m="http://schemas.openxmlformats.org/officeDocument/2006/math">
                    <m:r>
                      <a:rPr lang="en-US" altLang="ko-KR" sz="150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sz="150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ar-AE" altLang="ko-KR" sz="1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ko-KR" sz="15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ko-KR" sz="15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ko-KR" sz="150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ko-KR" sz="1500" dirty="0"/>
                  <a:t>(linear decay </a:t>
                </a:r>
                <a:r>
                  <a:rPr lang="ko-KR" altLang="en-US" sz="1500" dirty="0"/>
                  <a:t>적용</a:t>
                </a:r>
                <a:r>
                  <a:rPr lang="en-US" altLang="ko-KR" sz="1500" dirty="0"/>
                  <a:t>)</a:t>
                </a:r>
              </a:p>
              <a:p>
                <a:pPr lvl="1" fontAlgn="base"/>
                <a:r>
                  <a:rPr lang="en-US" altLang="ko-KR" sz="1500" dirty="0"/>
                  <a:t>Gamma(</a:t>
                </a:r>
                <a:r>
                  <a:rPr lang="el-GR" altLang="ko-KR" sz="1500" dirty="0"/>
                  <a:t>γ)</a:t>
                </a:r>
                <a:r>
                  <a:rPr lang="en-US" altLang="ko-KR" sz="1500" dirty="0"/>
                  <a:t> </a:t>
                </a:r>
                <a:r>
                  <a:rPr lang="el-GR" altLang="ko-KR" sz="1500" dirty="0"/>
                  <a:t>: 0.99</a:t>
                </a:r>
                <a:endParaRPr lang="en-US" altLang="ko-KR" sz="1500" dirty="0"/>
              </a:p>
              <a:p>
                <a:pPr lvl="1" fontAlgn="base"/>
                <a:r>
                  <a:rPr lang="en-US" altLang="ko-KR" sz="1500" dirty="0"/>
                  <a:t>GAE(</a:t>
                </a:r>
                <a:r>
                  <a:rPr lang="el-GR" altLang="ko-KR" sz="1500" dirty="0"/>
                  <a:t>λ)</a:t>
                </a:r>
                <a:r>
                  <a:rPr lang="en-US" altLang="ko-KR" sz="1500" dirty="0"/>
                  <a:t> </a:t>
                </a:r>
                <a:r>
                  <a:rPr lang="el-GR" altLang="ko-KR" sz="1500" dirty="0"/>
                  <a:t>: 0.95</a:t>
                </a:r>
                <a:endParaRPr lang="en-US" altLang="ko-KR" sz="1500" dirty="0"/>
              </a:p>
              <a:p>
                <a:pPr lvl="1" fontAlgn="base"/>
                <a:r>
                  <a:rPr lang="en-US" altLang="ko-KR" sz="1500" dirty="0"/>
                  <a:t>Batch size : 256</a:t>
                </a:r>
              </a:p>
              <a:p>
                <a:pPr lvl="1" fontAlgn="base"/>
                <a:r>
                  <a:rPr lang="en-US" altLang="ko-KR" sz="1500" dirty="0"/>
                  <a:t>PPO clip range : 0.2</a:t>
                </a:r>
              </a:p>
              <a:p>
                <a:pPr lvl="1" fontAlgn="base"/>
                <a:r>
                  <a:rPr lang="en-US" altLang="ko-KR" sz="1500" dirty="0"/>
                  <a:t>Train steps : 50,000 episodes</a:t>
                </a:r>
              </a:p>
              <a:p>
                <a:pPr lvl="1" fontAlgn="base"/>
                <a:r>
                  <a:rPr lang="en-US" altLang="ko-KR" sz="1500" dirty="0"/>
                  <a:t>Optimizer : Adam</a:t>
                </a:r>
              </a:p>
              <a:p>
                <a:pPr fontAlgn="base"/>
                <a:r>
                  <a:rPr lang="ko-KR" altLang="en-US" sz="2200" dirty="0"/>
                  <a:t>학습 안정화 기법</a:t>
                </a:r>
                <a:endParaRPr lang="en-US" altLang="ko-KR" sz="2200" dirty="0"/>
              </a:p>
              <a:p>
                <a:pPr lvl="1" fontAlgn="base"/>
                <a:r>
                  <a:rPr lang="en-US" altLang="ko-KR" sz="1500" dirty="0"/>
                  <a:t>Reward normalization</a:t>
                </a:r>
              </a:p>
              <a:p>
                <a:pPr lvl="1" fontAlgn="base"/>
                <a:r>
                  <a:rPr lang="en-US" altLang="ko-KR" sz="1500" dirty="0"/>
                  <a:t>Gradient clipping</a:t>
                </a:r>
              </a:p>
              <a:p>
                <a:pPr lvl="1" fontAlgn="base"/>
                <a:r>
                  <a:rPr lang="en-US" altLang="ko-KR" sz="1500" dirty="0" err="1"/>
                  <a:t>HistoryBuffer</a:t>
                </a:r>
                <a:r>
                  <a:rPr lang="ko-KR" altLang="en-US" sz="1500" dirty="0"/>
                  <a:t>로 시계열 </a:t>
                </a:r>
                <a:r>
                  <a:rPr lang="en-US" altLang="ko-KR" sz="1500" dirty="0"/>
                  <a:t>state </a:t>
                </a:r>
                <a:r>
                  <a:rPr lang="ko-KR" altLang="en-US" sz="1500" dirty="0"/>
                  <a:t>유지</a:t>
                </a:r>
                <a:endParaRPr lang="en-US" altLang="ko-KR" sz="1500" dirty="0"/>
              </a:p>
              <a:p>
                <a:pPr lvl="2" fontAlgn="base"/>
                <a:endParaRPr lang="en-US" altLang="ko-KR" sz="6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2C7EDF5-FC43-3603-C073-58A1BADBD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90" t="-22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77D035-E0C9-40A8-877E-4D82D95B9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51660AF-3D4F-FC4C-E852-50487EAEA6C0}"/>
              </a:ext>
            </a:extLst>
          </p:cNvPr>
          <p:cNvCxnSpPr>
            <a:cxnSpLocks/>
          </p:cNvCxnSpPr>
          <p:nvPr/>
        </p:nvCxnSpPr>
        <p:spPr>
          <a:xfrm>
            <a:off x="802861" y="1507828"/>
            <a:ext cx="10566400" cy="0"/>
          </a:xfrm>
          <a:prstGeom prst="line">
            <a:avLst/>
          </a:prstGeom>
          <a:ln w="28575">
            <a:solidFill>
              <a:srgbClr val="B600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CFAFAB-9E38-6695-1D93-AEE7C613D7B2}"/>
              </a:ext>
            </a:extLst>
          </p:cNvPr>
          <p:cNvSpPr/>
          <p:nvPr/>
        </p:nvSpPr>
        <p:spPr>
          <a:xfrm>
            <a:off x="701261" y="752101"/>
            <a:ext cx="136939" cy="4379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6968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BB997-2160-401A-C991-7CAD1E4F1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6CEF9-EB8C-5EFA-DCF9-448FA005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실험 셋업 </a:t>
            </a:r>
            <a:endParaRPr lang="en-US" altLang="ko-KR" sz="32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CECB5-7E54-277B-9852-E852D7570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fontAlgn="base"/>
            <a:r>
              <a:rPr lang="ko-KR" altLang="en-US" sz="2200" dirty="0"/>
              <a:t>실험 환경</a:t>
            </a:r>
            <a:endParaRPr lang="en-US" altLang="ko-KR" sz="2200" dirty="0"/>
          </a:p>
          <a:p>
            <a:pPr lvl="1" fontAlgn="base"/>
            <a:r>
              <a:rPr lang="ko-KR" altLang="en-US" sz="1500" dirty="0"/>
              <a:t>시뮬레이션 환경 </a:t>
            </a:r>
            <a:r>
              <a:rPr lang="en-US" altLang="ko-KR" sz="1500" dirty="0"/>
              <a:t>: Hierarchical ESS</a:t>
            </a:r>
          </a:p>
          <a:p>
            <a:pPr lvl="1" fontAlgn="base"/>
            <a:r>
              <a:rPr lang="ko-KR" altLang="en-US" sz="1500" dirty="0"/>
              <a:t>입력 데이터 </a:t>
            </a:r>
            <a:r>
              <a:rPr lang="en-US" altLang="ko-KR" sz="1500" dirty="0"/>
              <a:t>: </a:t>
            </a:r>
            <a:r>
              <a:rPr lang="ko-KR" altLang="en-US" sz="1500" dirty="0"/>
              <a:t>실제 전력 소비</a:t>
            </a:r>
            <a:r>
              <a:rPr lang="en-US" altLang="ko-KR" sz="1500" dirty="0"/>
              <a:t>·</a:t>
            </a:r>
            <a:r>
              <a:rPr lang="ko-KR" altLang="en-US" sz="1500" dirty="0"/>
              <a:t>태양광 발전 기반 </a:t>
            </a:r>
            <a:r>
              <a:rPr lang="en-US" altLang="ko-KR" sz="1500" dirty="0"/>
              <a:t>24</a:t>
            </a:r>
            <a:r>
              <a:rPr lang="ko-KR" altLang="en-US" sz="1500" dirty="0"/>
              <a:t>시간 시계열</a:t>
            </a:r>
            <a:r>
              <a:rPr lang="en-US" altLang="ko-KR" sz="1500" dirty="0"/>
              <a:t>(load, PV, SoC)</a:t>
            </a:r>
          </a:p>
          <a:p>
            <a:pPr lvl="1" fontAlgn="base"/>
            <a:r>
              <a:rPr lang="ko-KR" altLang="en-US" sz="1500" dirty="0"/>
              <a:t>평가 에피소드 </a:t>
            </a:r>
            <a:r>
              <a:rPr lang="en-US" altLang="ko-KR" sz="1500" dirty="0"/>
              <a:t>: 30</a:t>
            </a:r>
            <a:r>
              <a:rPr lang="ko-KR" altLang="en-US" sz="1500" dirty="0"/>
              <a:t>개 랜덤 시나리오</a:t>
            </a:r>
            <a:endParaRPr lang="en-US" altLang="ko-KR" sz="1500" dirty="0"/>
          </a:p>
          <a:p>
            <a:pPr lvl="1" fontAlgn="base"/>
            <a:r>
              <a:rPr lang="ko-KR" altLang="en-US" sz="1500" dirty="0"/>
              <a:t>구현 환경 </a:t>
            </a:r>
            <a:r>
              <a:rPr lang="en-US" altLang="ko-KR" sz="1500" dirty="0"/>
              <a:t>: Python / </a:t>
            </a:r>
            <a:r>
              <a:rPr lang="en-US" altLang="ko-KR" sz="1500" dirty="0" err="1"/>
              <a:t>PyTorch</a:t>
            </a:r>
            <a:r>
              <a:rPr lang="en-US" altLang="ko-KR" sz="1500" dirty="0"/>
              <a:t> / CUDA</a:t>
            </a:r>
          </a:p>
          <a:p>
            <a:pPr lvl="1" fontAlgn="base"/>
            <a:r>
              <a:rPr lang="ko-KR" altLang="en-US" sz="1500" dirty="0"/>
              <a:t>비교 대상</a:t>
            </a:r>
            <a:endParaRPr lang="en-US" altLang="ko-KR" sz="1500" dirty="0"/>
          </a:p>
          <a:p>
            <a:pPr lvl="2" fontAlgn="base"/>
            <a:r>
              <a:rPr lang="en-US" altLang="ko-KR" sz="1300" dirty="0"/>
              <a:t>No-ESS(</a:t>
            </a:r>
            <a:r>
              <a:rPr lang="ko-KR" altLang="en-US" sz="1300" dirty="0"/>
              <a:t>미사용</a:t>
            </a:r>
            <a:r>
              <a:rPr lang="en-US" altLang="ko-KR" sz="1300" dirty="0"/>
              <a:t>)</a:t>
            </a:r>
          </a:p>
          <a:p>
            <a:pPr lvl="2" fontAlgn="base"/>
            <a:r>
              <a:rPr lang="en-US" altLang="ko-KR" sz="1300" dirty="0"/>
              <a:t>Rule-based ESS</a:t>
            </a:r>
          </a:p>
          <a:p>
            <a:pPr lvl="2" fontAlgn="base"/>
            <a:r>
              <a:rPr lang="en-US" altLang="ko-KR" sz="1300" dirty="0"/>
              <a:t>Proposed H-Trans(Transformer PPO)</a:t>
            </a:r>
            <a:r>
              <a:rPr lang="ko-KR" altLang="en-US" sz="1300" dirty="0"/>
              <a:t> </a:t>
            </a:r>
            <a:endParaRPr lang="en-US" altLang="ko-KR" sz="1300" dirty="0"/>
          </a:p>
          <a:p>
            <a:pPr lvl="0" fontAlgn="base"/>
            <a:r>
              <a:rPr lang="en-US" altLang="ko-KR" sz="2200" dirty="0"/>
              <a:t>Evaluation metric</a:t>
            </a:r>
          </a:p>
          <a:p>
            <a:pPr lvl="1" fontAlgn="base"/>
            <a:r>
              <a:rPr lang="en-US" altLang="ko-KR" sz="1500" dirty="0"/>
              <a:t>Total Cost</a:t>
            </a:r>
          </a:p>
          <a:p>
            <a:pPr lvl="2" fontAlgn="base"/>
            <a:r>
              <a:rPr lang="ko-KR" altLang="en-US" sz="1300" dirty="0"/>
              <a:t>하루 운영 비용 총합 </a:t>
            </a:r>
            <a:r>
              <a:rPr lang="en-US" altLang="ko-KR" sz="1300" dirty="0"/>
              <a:t>(</a:t>
            </a:r>
            <a:r>
              <a:rPr lang="ko-KR" altLang="en-US" sz="1300" dirty="0"/>
              <a:t>작을수록 좋음</a:t>
            </a:r>
            <a:r>
              <a:rPr lang="en-US" altLang="ko-KR" sz="1300" dirty="0"/>
              <a:t>)</a:t>
            </a:r>
          </a:p>
          <a:p>
            <a:pPr lvl="1" fontAlgn="base"/>
            <a:r>
              <a:rPr lang="en-US" altLang="ko-KR" sz="1500" dirty="0"/>
              <a:t>Peak Ratio</a:t>
            </a:r>
          </a:p>
          <a:p>
            <a:pPr lvl="2" fontAlgn="base"/>
            <a:r>
              <a:rPr lang="ko-KR" altLang="en-US" sz="1300" dirty="0"/>
              <a:t>피크 초과 발생 비율 </a:t>
            </a:r>
            <a:r>
              <a:rPr lang="en-US" altLang="ko-KR" sz="1300" dirty="0"/>
              <a:t>: </a:t>
            </a:r>
            <a:r>
              <a:rPr lang="en-US" altLang="ko-KR" sz="1300" dirty="0" err="1"/>
              <a:t>over_steps</a:t>
            </a:r>
            <a:r>
              <a:rPr lang="en-US" altLang="ko-KR" sz="1300" dirty="0"/>
              <a:t>/24</a:t>
            </a:r>
          </a:p>
          <a:p>
            <a:pPr lvl="1" fontAlgn="base"/>
            <a:r>
              <a:rPr lang="en-US" altLang="ko-KR" sz="1500" dirty="0"/>
              <a:t>Max Margin</a:t>
            </a:r>
          </a:p>
          <a:p>
            <a:pPr lvl="2" fontAlgn="base"/>
            <a:r>
              <a:rPr lang="ko-KR" altLang="en-US" sz="1300" dirty="0"/>
              <a:t>피크 초과 최대치 </a:t>
            </a:r>
            <a:r>
              <a:rPr lang="en-US" altLang="ko-KR" sz="1300" dirty="0"/>
              <a:t>(kW)</a:t>
            </a:r>
          </a:p>
          <a:p>
            <a:pPr lvl="1" fontAlgn="base"/>
            <a:r>
              <a:rPr lang="en-US" altLang="ko-KR" sz="1500" dirty="0"/>
              <a:t>Multi-seed</a:t>
            </a:r>
          </a:p>
          <a:p>
            <a:pPr lvl="2" fontAlgn="base"/>
            <a:r>
              <a:rPr lang="en-US" altLang="ko-KR" sz="1300" dirty="0"/>
              <a:t>Seed = 0, 1, 2</a:t>
            </a:r>
            <a:r>
              <a:rPr lang="ko-KR" altLang="en-US" sz="1300" dirty="0"/>
              <a:t>로 학습 후 성능 평균</a:t>
            </a:r>
            <a:r>
              <a:rPr lang="en-US" altLang="ko-KR" sz="1300" dirty="0"/>
              <a:t>·</a:t>
            </a:r>
            <a:r>
              <a:rPr lang="ko-KR" altLang="en-US" sz="1300" dirty="0"/>
              <a:t>분산 보고</a:t>
            </a:r>
            <a:endParaRPr lang="en-US" altLang="ko-KR" sz="13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4B4050-CC63-7ED2-4B8D-80237B92A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CF7C53B-3BAF-7B03-2435-93D8E1122D35}"/>
              </a:ext>
            </a:extLst>
          </p:cNvPr>
          <p:cNvCxnSpPr>
            <a:cxnSpLocks/>
          </p:cNvCxnSpPr>
          <p:nvPr/>
        </p:nvCxnSpPr>
        <p:spPr>
          <a:xfrm>
            <a:off x="802861" y="1507828"/>
            <a:ext cx="10566400" cy="0"/>
          </a:xfrm>
          <a:prstGeom prst="line">
            <a:avLst/>
          </a:prstGeom>
          <a:ln w="28575">
            <a:solidFill>
              <a:srgbClr val="B600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2E4D23-58F3-0DBB-3A46-F25ABC2609B3}"/>
              </a:ext>
            </a:extLst>
          </p:cNvPr>
          <p:cNvSpPr/>
          <p:nvPr/>
        </p:nvSpPr>
        <p:spPr>
          <a:xfrm>
            <a:off x="701261" y="752101"/>
            <a:ext cx="136939" cy="4379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5043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C39E5-3BD9-0A03-43D9-C1955D739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1BA2B-5E8F-6198-A4FA-F835D0F4A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실험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AA3E0A-BC10-EF5B-9ACA-360189CD8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/>
            <a:r>
              <a:rPr lang="en-US" altLang="ko-KR" sz="1800" dirty="0"/>
              <a:t>Reward tuning </a:t>
            </a:r>
            <a:r>
              <a:rPr lang="ko-KR" altLang="en-US" sz="1800" dirty="0"/>
              <a:t>전</a:t>
            </a:r>
            <a:endParaRPr lang="en-US" altLang="ko-KR" sz="1800" dirty="0"/>
          </a:p>
          <a:p>
            <a:pPr lvl="1" fontAlgn="base"/>
            <a:r>
              <a:rPr lang="en-US" altLang="ko-KR" sz="1400" dirty="0"/>
              <a:t>Manager/Worker </a:t>
            </a:r>
            <a:r>
              <a:rPr lang="ko-KR" altLang="en-US" sz="1400" dirty="0"/>
              <a:t>보상이 낮고 변동성이 큼</a:t>
            </a:r>
            <a:endParaRPr lang="en-US" altLang="ko-KR" sz="1400" dirty="0"/>
          </a:p>
          <a:p>
            <a:pPr lvl="1" fontAlgn="base"/>
            <a:r>
              <a:rPr lang="ko-KR" altLang="en-US" sz="1400" dirty="0"/>
              <a:t>피크 억제와 비용 절감이 제대로 학습되지 않음</a:t>
            </a:r>
            <a:endParaRPr lang="en-US" altLang="ko-KR" sz="1400" dirty="0"/>
          </a:p>
          <a:p>
            <a:pPr lvl="1" fontAlgn="base"/>
            <a:r>
              <a:rPr lang="ko-KR" altLang="en-US" sz="1400" dirty="0"/>
              <a:t>기본 보상 구조만으로는 정책 학습이 불안정함</a:t>
            </a:r>
            <a:endParaRPr lang="en-US" altLang="ko-KR" sz="1400" dirty="0"/>
          </a:p>
          <a:p>
            <a:pPr lvl="1" fontAlgn="base"/>
            <a:endParaRPr lang="en-US" altLang="ko-KR" sz="1400" dirty="0"/>
          </a:p>
          <a:p>
            <a:pPr lvl="1" fontAlgn="base"/>
            <a:endParaRPr lang="en-US" altLang="ko-KR" sz="1400" dirty="0"/>
          </a:p>
          <a:p>
            <a:pPr lvl="1" fontAlgn="base"/>
            <a:endParaRPr lang="en-US" altLang="ko-KR" sz="1400" dirty="0"/>
          </a:p>
          <a:p>
            <a:pPr lvl="1" fontAlgn="base"/>
            <a:endParaRPr lang="en-US" altLang="ko-KR" sz="1400" dirty="0"/>
          </a:p>
          <a:p>
            <a:pPr lvl="1" fontAlgn="base"/>
            <a:endParaRPr lang="en-US" altLang="ko-KR" sz="1400" dirty="0"/>
          </a:p>
          <a:p>
            <a:pPr lvl="0" fontAlgn="base"/>
            <a:r>
              <a:rPr lang="en-US" altLang="ko-KR" sz="1800" dirty="0"/>
              <a:t>Reward tuning </a:t>
            </a:r>
            <a:r>
              <a:rPr lang="ko-KR" altLang="en-US" sz="1800" dirty="0"/>
              <a:t>후</a:t>
            </a:r>
            <a:endParaRPr lang="en-US" altLang="ko-KR" sz="1800" dirty="0"/>
          </a:p>
          <a:p>
            <a:pPr lvl="1" fontAlgn="base"/>
            <a:r>
              <a:rPr lang="ko-KR" altLang="en-US" sz="1400" dirty="0"/>
              <a:t>초반 빠른 수렴 후 일정 구간에서 안정</a:t>
            </a:r>
            <a:endParaRPr lang="en-US" altLang="ko-KR" sz="1400" dirty="0"/>
          </a:p>
          <a:p>
            <a:pPr lvl="1" fontAlgn="base"/>
            <a:r>
              <a:rPr lang="en-US" altLang="ko-KR" sz="1400" dirty="0"/>
              <a:t>Worker </a:t>
            </a:r>
            <a:r>
              <a:rPr lang="ko-KR" altLang="en-US" sz="1400" dirty="0"/>
              <a:t>보상</a:t>
            </a:r>
            <a:r>
              <a:rPr lang="en-US" altLang="ko-KR" sz="1400" dirty="0"/>
              <a:t>: 0 </a:t>
            </a:r>
            <a:r>
              <a:rPr lang="ko-KR" altLang="en-US" sz="1400" dirty="0"/>
              <a:t>부근에서 안정 → 일관된 충</a:t>
            </a:r>
            <a:r>
              <a:rPr lang="en-US" altLang="ko-KR" sz="1400" dirty="0"/>
              <a:t>·</a:t>
            </a:r>
            <a:r>
              <a:rPr lang="ko-KR" altLang="en-US" sz="1400" dirty="0"/>
              <a:t>방전 패턴</a:t>
            </a:r>
            <a:endParaRPr lang="en-US" altLang="ko-KR" sz="1400" dirty="0"/>
          </a:p>
          <a:p>
            <a:pPr lvl="1" fontAlgn="base"/>
            <a:r>
              <a:rPr lang="en-US" altLang="ko-KR" sz="1400" dirty="0"/>
              <a:t>Manager </a:t>
            </a:r>
            <a:r>
              <a:rPr lang="ko-KR" altLang="en-US" sz="1400" dirty="0"/>
              <a:t>보상</a:t>
            </a:r>
            <a:r>
              <a:rPr lang="en-US" altLang="ko-KR" sz="1400" dirty="0"/>
              <a:t>: -10~-15 </a:t>
            </a:r>
            <a:r>
              <a:rPr lang="ko-KR" altLang="en-US" sz="1400" dirty="0"/>
              <a:t>구간에서 수렴 → 피크 억제 정책 학습됨</a:t>
            </a:r>
            <a:endParaRPr lang="en-US" altLang="ko-KR" sz="1400" dirty="0"/>
          </a:p>
          <a:p>
            <a:pPr lvl="1" fontAlgn="base"/>
            <a:endParaRPr lang="en-US" altLang="ko-KR" sz="1400" dirty="0"/>
          </a:p>
          <a:p>
            <a:pPr lvl="1" fontAlgn="base"/>
            <a:endParaRPr lang="en-US" altLang="ko-KR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717CB8-B771-4AC8-B2FE-910737ED0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F8B3BD8-9CDC-D915-705E-E5EB4B28C665}"/>
              </a:ext>
            </a:extLst>
          </p:cNvPr>
          <p:cNvCxnSpPr>
            <a:cxnSpLocks/>
          </p:cNvCxnSpPr>
          <p:nvPr/>
        </p:nvCxnSpPr>
        <p:spPr>
          <a:xfrm>
            <a:off x="802861" y="1507828"/>
            <a:ext cx="10566400" cy="0"/>
          </a:xfrm>
          <a:prstGeom prst="line">
            <a:avLst/>
          </a:prstGeom>
          <a:ln w="28575">
            <a:solidFill>
              <a:srgbClr val="B600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7B1FD5-C4A4-6942-552E-93A8B87A5AD7}"/>
              </a:ext>
            </a:extLst>
          </p:cNvPr>
          <p:cNvSpPr/>
          <p:nvPr/>
        </p:nvSpPr>
        <p:spPr>
          <a:xfrm>
            <a:off x="701261" y="752101"/>
            <a:ext cx="136939" cy="4379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EE0F25-57DF-3D24-13DC-2870BEA35C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191" y="1546808"/>
            <a:ext cx="4414896" cy="2207448"/>
          </a:xfrm>
          <a:prstGeom prst="rect">
            <a:avLst/>
          </a:prstGeom>
        </p:spPr>
      </p:pic>
      <p:pic>
        <p:nvPicPr>
          <p:cNvPr id="17" name="그림 16" descr="텍스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C12B0D-4DA0-ED36-9A91-CA12566343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191" y="3933643"/>
            <a:ext cx="4519606" cy="225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14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D4712-4581-2E64-4AFE-10C29986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68DDFC-E686-35D2-A27F-0C9BC763C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실험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AE8743-BE10-A77F-6BFE-BD1204244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/>
            <a:r>
              <a:rPr lang="en-US" altLang="ko-KR" sz="2000" dirty="0"/>
              <a:t>Multi-Seed </a:t>
            </a:r>
            <a:r>
              <a:rPr lang="ko-KR" altLang="en-US" sz="2000" dirty="0"/>
              <a:t>실험</a:t>
            </a:r>
          </a:p>
          <a:p>
            <a:pPr lvl="1"/>
            <a:r>
              <a:rPr lang="en-US" altLang="ko-KR" sz="1400" dirty="0"/>
              <a:t>3</a:t>
            </a:r>
            <a:r>
              <a:rPr lang="ko-KR" altLang="en-US" sz="1400" dirty="0"/>
              <a:t>개의 서로 다른 </a:t>
            </a:r>
            <a:r>
              <a:rPr lang="en-US" altLang="ko-KR" sz="1400" dirty="0"/>
              <a:t>seed(0,1,2)</a:t>
            </a:r>
            <a:r>
              <a:rPr lang="ko-KR" altLang="en-US" sz="1400" dirty="0"/>
              <a:t>에서 모두 안정적으로 수렴</a:t>
            </a:r>
          </a:p>
          <a:p>
            <a:pPr lvl="1"/>
            <a:r>
              <a:rPr lang="ko-KR" altLang="en-US" sz="1400" dirty="0"/>
              <a:t>초기 </a:t>
            </a:r>
            <a:r>
              <a:rPr lang="en-US" altLang="ko-KR" sz="1400" dirty="0"/>
              <a:t>exploration </a:t>
            </a:r>
            <a:r>
              <a:rPr lang="ko-KR" altLang="en-US" sz="1400" dirty="0"/>
              <a:t>이후 거의 동일한 형태의 학습 곡선을 보임</a:t>
            </a:r>
          </a:p>
          <a:p>
            <a:pPr lvl="1"/>
            <a:r>
              <a:rPr lang="en-US" altLang="ko-KR" sz="1400" dirty="0"/>
              <a:t>Worker/Manager </a:t>
            </a:r>
            <a:r>
              <a:rPr lang="ko-KR" altLang="en-US" sz="1400" dirty="0"/>
              <a:t>모두 보상 패턴이 일관적으로 재현됨</a:t>
            </a:r>
          </a:p>
          <a:p>
            <a:pPr lvl="1"/>
            <a:r>
              <a:rPr lang="en-US" altLang="ko-KR" sz="1400" dirty="0"/>
              <a:t>Reward tuning </a:t>
            </a:r>
            <a:r>
              <a:rPr lang="ko-KR" altLang="en-US" sz="1400" dirty="0"/>
              <a:t>후 안정적인 학습을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93E41E-1B5C-F645-C515-E86CE3C95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9</a:t>
            </a:fld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1203881-A4A6-183D-B3DD-77E3F50D2A6C}"/>
              </a:ext>
            </a:extLst>
          </p:cNvPr>
          <p:cNvCxnSpPr>
            <a:cxnSpLocks/>
          </p:cNvCxnSpPr>
          <p:nvPr/>
        </p:nvCxnSpPr>
        <p:spPr>
          <a:xfrm>
            <a:off x="802861" y="1507828"/>
            <a:ext cx="10566400" cy="0"/>
          </a:xfrm>
          <a:prstGeom prst="line">
            <a:avLst/>
          </a:prstGeom>
          <a:ln w="28575">
            <a:solidFill>
              <a:srgbClr val="B600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48CC53-4AF8-2117-6BBE-C3D7676FCA46}"/>
              </a:ext>
            </a:extLst>
          </p:cNvPr>
          <p:cNvSpPr/>
          <p:nvPr/>
        </p:nvSpPr>
        <p:spPr>
          <a:xfrm>
            <a:off x="701261" y="752101"/>
            <a:ext cx="136939" cy="4379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 descr="텍스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3BE9E5-1051-8F99-4C5B-F521FE905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200" y="4024798"/>
            <a:ext cx="3239999" cy="1620000"/>
          </a:xfrm>
          <a:prstGeom prst="rect">
            <a:avLst/>
          </a:prstGeom>
        </p:spPr>
      </p:pic>
      <p:pic>
        <p:nvPicPr>
          <p:cNvPr id="14" name="그림 13" descr="텍스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B8DC37-7689-DE79-95E7-EFC3AD11FE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261" y="4024798"/>
            <a:ext cx="3240000" cy="1620000"/>
          </a:xfrm>
          <a:prstGeom prst="rect">
            <a:avLst/>
          </a:prstGeom>
        </p:spPr>
      </p:pic>
      <p:pic>
        <p:nvPicPr>
          <p:cNvPr id="16" name="그림 15" descr="텍스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15C806-9C97-88B7-4874-9D271C9B20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61" y="4001294"/>
            <a:ext cx="3240000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24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70132-8FFC-05B8-71E6-0AA4A9F95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B752A-576B-DD39-7512-725C233ED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271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b="1" dirty="0"/>
              <a:t>토의 및 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943C2A-ADDA-5C8D-413C-06C6C97FC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/>
            <a:r>
              <a:rPr lang="ko-KR" altLang="en-US" sz="2000" dirty="0"/>
              <a:t>실험 결과 </a:t>
            </a:r>
            <a:endParaRPr lang="en-US" altLang="ko-KR" sz="2000" dirty="0"/>
          </a:p>
          <a:p>
            <a:pPr lvl="1"/>
            <a:r>
              <a:rPr lang="en-US" altLang="ko-KR" sz="1500" dirty="0"/>
              <a:t>Reward tuning </a:t>
            </a:r>
            <a:r>
              <a:rPr lang="ko-KR" altLang="en-US" sz="1500" dirty="0"/>
              <a:t>전에는 학습이 불안정하고 수렴이 어렵다는 문제가 있었음</a:t>
            </a:r>
          </a:p>
          <a:p>
            <a:pPr lvl="1"/>
            <a:r>
              <a:rPr lang="en-US" altLang="ko-KR" sz="1500" dirty="0"/>
              <a:t>Reward </a:t>
            </a:r>
            <a:r>
              <a:rPr lang="ko-KR" altLang="en-US" sz="1500" dirty="0"/>
              <a:t>구조를 개선한 실험에서는 모든 </a:t>
            </a:r>
            <a:r>
              <a:rPr lang="en-US" altLang="ko-KR" sz="1500" dirty="0"/>
              <a:t>seed</a:t>
            </a:r>
            <a:r>
              <a:rPr lang="ko-KR" altLang="en-US" sz="1500" dirty="0"/>
              <a:t>에서 안정적인 수렴을 확인</a:t>
            </a:r>
          </a:p>
          <a:p>
            <a:pPr lvl="1"/>
            <a:r>
              <a:rPr lang="en-US" altLang="ko-KR" sz="1500" dirty="0" err="1"/>
              <a:t>Manager·Worker</a:t>
            </a:r>
            <a:r>
              <a:rPr lang="en-US" altLang="ko-KR" sz="1500" dirty="0"/>
              <a:t> </a:t>
            </a:r>
            <a:r>
              <a:rPr lang="ko-KR" altLang="en-US" sz="1500" dirty="0"/>
              <a:t>모두 일관된 정책을 학습하며 피크 억제 및 비용 감소 효과가 명확</a:t>
            </a:r>
          </a:p>
          <a:p>
            <a:pPr lvl="1"/>
            <a:r>
              <a:rPr lang="en-US" altLang="ko-KR" sz="1500" dirty="0"/>
              <a:t>Seed </a:t>
            </a:r>
            <a:r>
              <a:rPr lang="ko-KR" altLang="en-US" sz="1500" dirty="0"/>
              <a:t>실험을 통해 정책의 재현성과 신뢰도 확보</a:t>
            </a:r>
            <a:endParaRPr lang="en-US" altLang="ko-KR" sz="1500" dirty="0"/>
          </a:p>
          <a:p>
            <a:pPr lvl="1"/>
            <a:endParaRPr lang="en-US" altLang="ko-KR" sz="1500" dirty="0"/>
          </a:p>
          <a:p>
            <a:pPr lvl="0" fontAlgn="base"/>
            <a:r>
              <a:rPr lang="ko-KR" altLang="en-US" sz="2000" dirty="0"/>
              <a:t>보완 및 개선사항</a:t>
            </a:r>
            <a:endParaRPr lang="en-US" altLang="ko-KR" sz="2000" dirty="0"/>
          </a:p>
          <a:p>
            <a:pPr lvl="1"/>
            <a:r>
              <a:rPr lang="ko-KR" altLang="en-US" sz="1500" dirty="0"/>
              <a:t>현재 보상 함수는 경험적으로 조정 → 자동화된 </a:t>
            </a:r>
            <a:r>
              <a:rPr lang="en-US" altLang="ko-KR" sz="1500" dirty="0"/>
              <a:t>reward shaping </a:t>
            </a:r>
            <a:r>
              <a:rPr lang="ko-KR" altLang="en-US" sz="1500" dirty="0"/>
              <a:t>기법 도입 필요</a:t>
            </a:r>
          </a:p>
          <a:p>
            <a:pPr lvl="1"/>
            <a:r>
              <a:rPr lang="ko-KR" altLang="en-US" sz="1500" dirty="0"/>
              <a:t>단일 환경 데이터 기반 → 다양한 계절</a:t>
            </a:r>
            <a:r>
              <a:rPr lang="en-US" altLang="ko-KR" sz="1500" dirty="0"/>
              <a:t>·</a:t>
            </a:r>
            <a:r>
              <a:rPr lang="ko-KR" altLang="en-US" sz="1500" dirty="0"/>
              <a:t>기상 조건 데이터로 일반화 성능 검증 필요</a:t>
            </a:r>
          </a:p>
          <a:p>
            <a:pPr lvl="1"/>
            <a:r>
              <a:rPr lang="en-US" altLang="ko-KR" sz="1500" dirty="0"/>
              <a:t>Transformer </a:t>
            </a:r>
            <a:r>
              <a:rPr lang="ko-KR" altLang="en-US" sz="1500" dirty="0"/>
              <a:t>구조가 비용 대비 성능 우수하지만</a:t>
            </a:r>
            <a:r>
              <a:rPr lang="en-US" altLang="ko-KR" sz="1500" dirty="0"/>
              <a:t> Inference latency </a:t>
            </a:r>
            <a:r>
              <a:rPr lang="ko-KR" altLang="en-US" sz="1500" dirty="0"/>
              <a:t>최적화가 추가로 필요</a:t>
            </a:r>
          </a:p>
          <a:p>
            <a:pPr lvl="1"/>
            <a:r>
              <a:rPr lang="en-US" altLang="ko-KR" sz="1500" dirty="0"/>
              <a:t>Multi-agent </a:t>
            </a:r>
            <a:r>
              <a:rPr lang="ko-KR" altLang="en-US" sz="1500" dirty="0"/>
              <a:t>간 의사소통 구조 강화 등 </a:t>
            </a:r>
            <a:r>
              <a:rPr lang="en-US" altLang="ko-KR" sz="1600" dirty="0"/>
              <a:t>Hierarchical Multi-Agent Reinforcement Learning</a:t>
            </a:r>
            <a:r>
              <a:rPr lang="en-US" altLang="ko-KR" sz="1500" dirty="0"/>
              <a:t> </a:t>
            </a:r>
            <a:r>
              <a:rPr lang="ko-KR" altLang="en-US" sz="1500" dirty="0"/>
              <a:t>구조 </a:t>
            </a:r>
            <a:br>
              <a:rPr lang="en-US" altLang="ko-KR" sz="1500" dirty="0"/>
            </a:br>
            <a:r>
              <a:rPr lang="ko-KR" altLang="en-US" sz="1500" dirty="0"/>
              <a:t>확장 가능성 존재</a:t>
            </a:r>
          </a:p>
          <a:p>
            <a:pPr lvl="1" fontAlgn="base"/>
            <a:endParaRPr lang="en-US" altLang="ko-KR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C73D06-F5BF-02A9-FFE9-A7EA167C9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47B0F-0362-4F77-8631-DEEDD8AA3990}" type="slidenum">
              <a:rPr lang="ko-KR" altLang="en-US" smtClean="0"/>
              <a:t>10</a:t>
            </a:fld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894B8FD-D815-E46F-F06F-B69124D0CFEE}"/>
              </a:ext>
            </a:extLst>
          </p:cNvPr>
          <p:cNvCxnSpPr>
            <a:cxnSpLocks/>
          </p:cNvCxnSpPr>
          <p:nvPr/>
        </p:nvCxnSpPr>
        <p:spPr>
          <a:xfrm>
            <a:off x="802861" y="1507828"/>
            <a:ext cx="10566400" cy="0"/>
          </a:xfrm>
          <a:prstGeom prst="line">
            <a:avLst/>
          </a:prstGeom>
          <a:ln w="28575">
            <a:solidFill>
              <a:srgbClr val="B600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BA3014-D8A2-2F04-30D2-AC6D256F2082}"/>
              </a:ext>
            </a:extLst>
          </p:cNvPr>
          <p:cNvSpPr/>
          <p:nvPr/>
        </p:nvSpPr>
        <p:spPr>
          <a:xfrm>
            <a:off x="701261" y="752101"/>
            <a:ext cx="136939" cy="4379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7047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6236</TotalTime>
  <Words>776</Words>
  <Application>Microsoft Office PowerPoint</Application>
  <PresentationFormat>와이드스크린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Cambria Math</vt:lpstr>
      <vt:lpstr>Office 테마</vt:lpstr>
      <vt:lpstr>Transformer 기반 계층형 다중 에이전트  강화학습을 이용한  Energy Storage System 운영</vt:lpstr>
      <vt:lpstr>목차</vt:lpstr>
      <vt:lpstr>프로젝트 주제 및 목표</vt:lpstr>
      <vt:lpstr>환경 및 데이터셋 </vt:lpstr>
      <vt:lpstr>State, Action, Reward 설계 </vt:lpstr>
      <vt:lpstr>강화학습 알고리즘 및 hyperparameter </vt:lpstr>
      <vt:lpstr>실험 셋업 </vt:lpstr>
      <vt:lpstr>실험 결과</vt:lpstr>
      <vt:lpstr>실험 결과</vt:lpstr>
      <vt:lpstr>토의 및 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이승열</dc:creator>
  <cp:lastModifiedBy>이승열</cp:lastModifiedBy>
  <cp:revision>541</cp:revision>
  <dcterms:created xsi:type="dcterms:W3CDTF">2025-08-05T06:56:25Z</dcterms:created>
  <dcterms:modified xsi:type="dcterms:W3CDTF">2025-12-07T08:08:05Z</dcterms:modified>
</cp:coreProperties>
</file>